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3W5071MZhkANYtxFl+DItONht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4701" l="0" r="0" t="-74701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368717" y="280342"/>
            <a:ext cx="2394785" cy="663555"/>
          </a:xfrm>
          <a:custGeom>
            <a:rect b="b" l="l" r="r" t="t"/>
            <a:pathLst>
              <a:path extrusionOk="0" h="663555" w="2394785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273353" y="196765"/>
            <a:ext cx="2690915" cy="806153"/>
          </a:xfrm>
          <a:custGeom>
            <a:rect b="b" l="l" r="r" t="t"/>
            <a:pathLst>
              <a:path extrusionOk="0" h="806153" w="2690915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0893623" y="280342"/>
            <a:ext cx="4147219" cy="663555"/>
          </a:xfrm>
          <a:custGeom>
            <a:rect b="b" l="l" r="r" t="t"/>
            <a:pathLst>
              <a:path extrusionOk="0" h="663555" w="4147219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028700" y="6584151"/>
            <a:ext cx="16230600" cy="3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Name: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Statement: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Lead: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Members:</a:t>
            </a:r>
            <a:endParaRPr/>
          </a:p>
        </p:txBody>
      </p:sp>
      <p:grpSp>
        <p:nvGrpSpPr>
          <p:cNvPr id="89" name="Google Shape;89;p1"/>
          <p:cNvGrpSpPr/>
          <p:nvPr/>
        </p:nvGrpSpPr>
        <p:grpSpPr>
          <a:xfrm>
            <a:off x="273353" y="1592759"/>
            <a:ext cx="17490150" cy="4772332"/>
            <a:chOff x="0" y="295275"/>
            <a:chExt cx="23320200" cy="6363109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0" y="295275"/>
              <a:ext cx="23320200" cy="38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765" u="none" cap="none" strike="noStrike">
                  <a:solidFill>
                    <a:srgbClr val="CA70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FINVASIA INNOVATION HACKATHON 2026</a:t>
              </a:r>
              <a:endParaRPr sz="100"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1287713" y="4576384"/>
              <a:ext cx="20744700" cy="20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Leveraging Emerging Trends and Technologies for </a:t>
              </a:r>
              <a:endParaRPr/>
            </a:p>
            <a:p>
              <a:pPr indent="0" lvl="0" marL="0" marR="0" rtl="0" algn="ctr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3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Financial Innovation</a:t>
              </a:r>
              <a:endParaRPr/>
            </a:p>
          </p:txBody>
        </p:sp>
        <p:cxnSp>
          <p:nvCxnSpPr>
            <p:cNvPr id="92" name="Google Shape;92;p1"/>
            <p:cNvCxnSpPr/>
            <p:nvPr/>
          </p:nvCxnSpPr>
          <p:spPr>
            <a:xfrm>
              <a:off x="995079" y="4600681"/>
              <a:ext cx="21037407" cy="0"/>
            </a:xfrm>
            <a:prstGeom prst="straightConnector1">
              <a:avLst/>
            </a:prstGeom>
            <a:noFill/>
            <a:ln cap="flat" cmpd="sng" w="125125">
              <a:solidFill>
                <a:srgbClr val="AD5C4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3" name="Google Shape;93;p1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94" name="Google Shape;94;p1"/>
            <p:cNvSpPr/>
            <p:nvPr/>
          </p:nvSpPr>
          <p:spPr>
            <a:xfrm>
              <a:off x="0" y="2996179"/>
              <a:ext cx="12487528" cy="3412922"/>
            </a:xfrm>
            <a:custGeom>
              <a:rect b="b" l="l" r="r" t="t"/>
              <a:pathLst>
                <a:path extrusionOk="0" h="3412922" w="12487528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b="-155363" l="-4230" r="-3650" t="-139379"/>
              </a:stretch>
            </a:blipFill>
            <a:ln>
              <a:noFill/>
            </a:ln>
          </p:spPr>
        </p:sp>
        <p:sp>
          <p:nvSpPr>
            <p:cNvPr id="95" name="Google Shape;95;p1"/>
            <p:cNvSpPr/>
            <p:nvPr/>
          </p:nvSpPr>
          <p:spPr>
            <a:xfrm>
              <a:off x="458413" y="0"/>
              <a:ext cx="11570701" cy="1851312"/>
            </a:xfrm>
            <a:custGeom>
              <a:rect b="b" l="l" r="r" t="t"/>
              <a:pathLst>
                <a:path extrusionOk="0" h="1851312" w="11570701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4701" l="0" r="0" t="-74701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15368717" y="280342"/>
            <a:ext cx="2394785" cy="663555"/>
          </a:xfrm>
          <a:custGeom>
            <a:rect b="b" l="l" r="r" t="t"/>
            <a:pathLst>
              <a:path extrusionOk="0" h="663555" w="2394785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273353" y="196765"/>
            <a:ext cx="2690915" cy="806153"/>
          </a:xfrm>
          <a:custGeom>
            <a:rect b="b" l="l" r="r" t="t"/>
            <a:pathLst>
              <a:path extrusionOk="0" h="806153" w="2690915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0893623" y="280342"/>
            <a:ext cx="4147219" cy="663555"/>
          </a:xfrm>
          <a:custGeom>
            <a:rect b="b" l="l" r="r" t="t"/>
            <a:pathLst>
              <a:path extrusionOk="0" h="663555" w="4147219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5" name="Google Shape;105;p2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06" name="Google Shape;106;p2"/>
            <p:cNvSpPr/>
            <p:nvPr/>
          </p:nvSpPr>
          <p:spPr>
            <a:xfrm>
              <a:off x="0" y="2996179"/>
              <a:ext cx="12487528" cy="3412922"/>
            </a:xfrm>
            <a:custGeom>
              <a:rect b="b" l="l" r="r" t="t"/>
              <a:pathLst>
                <a:path extrusionOk="0" h="3412922" w="12487528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b="-155363" l="-4232" r="-3652" t="-139379"/>
              </a:stretch>
            </a:blipFill>
            <a:ln>
              <a:noFill/>
            </a:ln>
          </p:spPr>
        </p:sp>
        <p:sp>
          <p:nvSpPr>
            <p:cNvPr id="107" name="Google Shape;107;p2"/>
            <p:cNvSpPr/>
            <p:nvPr/>
          </p:nvSpPr>
          <p:spPr>
            <a:xfrm>
              <a:off x="458413" y="0"/>
              <a:ext cx="11570701" cy="1851312"/>
            </a:xfrm>
            <a:custGeom>
              <a:rect b="b" l="l" r="r" t="t"/>
              <a:pathLst>
                <a:path extrusionOk="0" h="1851312" w="11570701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413225" y="1231948"/>
            <a:ext cx="16230600" cy="3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</a:t>
            </a:r>
            <a:endParaRPr/>
          </a:p>
          <a:p>
            <a:pPr indent="-323848" lvl="1" marL="647697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Current system limitations</a:t>
            </a:r>
            <a:endParaRPr/>
          </a:p>
          <a:p>
            <a:pPr indent="-323848" lvl="1" marL="647697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User pain points</a:t>
            </a:r>
            <a:endParaRPr/>
          </a:p>
          <a:p>
            <a:pPr indent="-323848" lvl="1" marL="647697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Technical or operational challenges</a:t>
            </a:r>
            <a:endParaRPr/>
          </a:p>
          <a:p>
            <a:pPr indent="-323848" lvl="1" marL="647697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Why this problem matters now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4701" l="0" r="0" t="-74701"/>
            </a:stretch>
          </a:blip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15368717" y="280342"/>
            <a:ext cx="2394785" cy="663555"/>
          </a:xfrm>
          <a:custGeom>
            <a:rect b="b" l="l" r="r" t="t"/>
            <a:pathLst>
              <a:path extrusionOk="0" h="663555" w="2394785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>
            <a:off x="273353" y="196765"/>
            <a:ext cx="2690915" cy="806153"/>
          </a:xfrm>
          <a:custGeom>
            <a:rect b="b" l="l" r="r" t="t"/>
            <a:pathLst>
              <a:path extrusionOk="0" h="806153" w="2690915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10893623" y="280342"/>
            <a:ext cx="4147219" cy="663555"/>
          </a:xfrm>
          <a:custGeom>
            <a:rect b="b" l="l" r="r" t="t"/>
            <a:pathLst>
              <a:path extrusionOk="0" h="663555" w="4147219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3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19" name="Google Shape;119;p3"/>
            <p:cNvSpPr/>
            <p:nvPr/>
          </p:nvSpPr>
          <p:spPr>
            <a:xfrm>
              <a:off x="0" y="2996179"/>
              <a:ext cx="12487528" cy="3412922"/>
            </a:xfrm>
            <a:custGeom>
              <a:rect b="b" l="l" r="r" t="t"/>
              <a:pathLst>
                <a:path extrusionOk="0" h="3412922" w="12487528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b="-155363" l="-4232" r="-3652" t="-139379"/>
              </a:stretch>
            </a:blipFill>
            <a:ln>
              <a:noFill/>
            </a:ln>
          </p:spPr>
        </p:sp>
        <p:sp>
          <p:nvSpPr>
            <p:cNvPr id="120" name="Google Shape;120;p3"/>
            <p:cNvSpPr/>
            <p:nvPr/>
          </p:nvSpPr>
          <p:spPr>
            <a:xfrm>
              <a:off x="458413" y="0"/>
              <a:ext cx="11570701" cy="1851312"/>
            </a:xfrm>
            <a:custGeom>
              <a:rect b="b" l="l" r="r" t="t"/>
              <a:pathLst>
                <a:path extrusionOk="0" h="1851312" w="11570701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1" name="Google Shape;121;p3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3"/>
          <p:cNvSpPr txBox="1"/>
          <p:nvPr/>
        </p:nvSpPr>
        <p:spPr>
          <a:xfrm>
            <a:off x="413225" y="1231947"/>
            <a:ext cx="16230600" cy="3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Proposed Solution 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Core idea / concept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Key features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How it addresses the challenges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Why this solution is better than existing ones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4701" l="0" r="0" t="-74701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15368717" y="280342"/>
            <a:ext cx="2394785" cy="663555"/>
          </a:xfrm>
          <a:custGeom>
            <a:rect b="b" l="l" r="r" t="t"/>
            <a:pathLst>
              <a:path extrusionOk="0" h="663555" w="2394785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273353" y="196765"/>
            <a:ext cx="2690915" cy="806153"/>
          </a:xfrm>
          <a:custGeom>
            <a:rect b="b" l="l" r="r" t="t"/>
            <a:pathLst>
              <a:path extrusionOk="0" h="806153" w="2690915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10893623" y="280342"/>
            <a:ext cx="4147219" cy="663555"/>
          </a:xfrm>
          <a:custGeom>
            <a:rect b="b" l="l" r="r" t="t"/>
            <a:pathLst>
              <a:path extrusionOk="0" h="663555" w="4147219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1" name="Google Shape;131;p4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32" name="Google Shape;132;p4"/>
            <p:cNvSpPr/>
            <p:nvPr/>
          </p:nvSpPr>
          <p:spPr>
            <a:xfrm>
              <a:off x="0" y="2996179"/>
              <a:ext cx="12487528" cy="3412922"/>
            </a:xfrm>
            <a:custGeom>
              <a:rect b="b" l="l" r="r" t="t"/>
              <a:pathLst>
                <a:path extrusionOk="0" h="3412922" w="12487528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b="-155363" l="-4232" r="-3652" t="-139379"/>
              </a:stretch>
            </a:blipFill>
            <a:ln>
              <a:noFill/>
            </a:ln>
          </p:spPr>
        </p:sp>
        <p:sp>
          <p:nvSpPr>
            <p:cNvPr id="133" name="Google Shape;133;p4"/>
            <p:cNvSpPr/>
            <p:nvPr/>
          </p:nvSpPr>
          <p:spPr>
            <a:xfrm>
              <a:off x="458413" y="0"/>
              <a:ext cx="11570701" cy="1851312"/>
            </a:xfrm>
            <a:custGeom>
              <a:rect b="b" l="l" r="r" t="t"/>
              <a:pathLst>
                <a:path extrusionOk="0" h="1851312" w="11570701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4" name="Google Shape;134;p4"/>
          <p:cNvSpPr txBox="1"/>
          <p:nvPr/>
        </p:nvSpPr>
        <p:spPr>
          <a:xfrm>
            <a:off x="413225" y="1231947"/>
            <a:ext cx="16230600" cy="3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Architecture + Technical Description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Architecture diagram (must add visual)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Frontend (UI)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Backend (logic)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AI model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APIs / Database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110225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4701" l="0" r="0" t="-74701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>
            <a:off x="15368717" y="280342"/>
            <a:ext cx="2394785" cy="663555"/>
          </a:xfrm>
          <a:custGeom>
            <a:rect b="b" l="l" r="r" t="t"/>
            <a:pathLst>
              <a:path extrusionOk="0" h="663555" w="2394785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273353" y="196765"/>
            <a:ext cx="2690915" cy="806153"/>
          </a:xfrm>
          <a:custGeom>
            <a:rect b="b" l="l" r="r" t="t"/>
            <a:pathLst>
              <a:path extrusionOk="0" h="806153" w="2690915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0893623" y="280342"/>
            <a:ext cx="4147219" cy="663555"/>
          </a:xfrm>
          <a:custGeom>
            <a:rect b="b" l="l" r="r" t="t"/>
            <a:pathLst>
              <a:path extrusionOk="0" h="663555" w="4147219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44" name="Google Shape;144;p5"/>
            <p:cNvSpPr/>
            <p:nvPr/>
          </p:nvSpPr>
          <p:spPr>
            <a:xfrm>
              <a:off x="0" y="2996179"/>
              <a:ext cx="12487528" cy="3412922"/>
            </a:xfrm>
            <a:custGeom>
              <a:rect b="b" l="l" r="r" t="t"/>
              <a:pathLst>
                <a:path extrusionOk="0" h="3412922" w="12487528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b="-155363" l="-4232" r="-3652" t="-139379"/>
              </a:stretch>
            </a:blipFill>
            <a:ln>
              <a:noFill/>
            </a:ln>
          </p:spPr>
        </p:sp>
        <p:sp>
          <p:nvSpPr>
            <p:cNvPr id="145" name="Google Shape;145;p5"/>
            <p:cNvSpPr/>
            <p:nvPr/>
          </p:nvSpPr>
          <p:spPr>
            <a:xfrm>
              <a:off x="458413" y="0"/>
              <a:ext cx="11570701" cy="1851312"/>
            </a:xfrm>
            <a:custGeom>
              <a:rect b="b" l="l" r="r" t="t"/>
              <a:pathLst>
                <a:path extrusionOk="0" h="1851312" w="11570701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6" name="Google Shape;146;p5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5"/>
          <p:cNvSpPr txBox="1"/>
          <p:nvPr/>
        </p:nvSpPr>
        <p:spPr>
          <a:xfrm>
            <a:off x="413225" y="1231950"/>
            <a:ext cx="16230600" cy="5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Key Features + Tech Stack</a:t>
            </a:r>
            <a:endParaRPr/>
          </a:p>
          <a:p>
            <a:pPr indent="-323849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Feature 1 (AI-based)</a:t>
            </a:r>
            <a:endParaRPr/>
          </a:p>
          <a:p>
            <a:pPr indent="-323849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Feature 2 (automation / prediction)</a:t>
            </a:r>
            <a:endParaRPr/>
          </a:p>
          <a:p>
            <a:pPr indent="-323849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Feature 3 (user benefit)</a:t>
            </a:r>
            <a:endParaRPr/>
          </a:p>
          <a:p>
            <a:pPr indent="-323849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 stack:</a:t>
            </a:r>
            <a:endParaRPr/>
          </a:p>
          <a:p>
            <a:pPr indent="-431797" lvl="2" marL="1295394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AI/ML</a:t>
            </a:r>
            <a:endParaRPr/>
          </a:p>
          <a:p>
            <a:pPr indent="-431797" lvl="2" marL="1295394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Backend</a:t>
            </a:r>
            <a:endParaRPr/>
          </a:p>
          <a:p>
            <a:pPr indent="-431797" lvl="2" marL="1295394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Frontend</a:t>
            </a:r>
            <a:endParaRPr/>
          </a:p>
          <a:p>
            <a:pPr indent="-431797" lvl="2" marL="1295394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APIs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4701" l="0" r="0" t="-74701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15368717" y="280342"/>
            <a:ext cx="2394785" cy="663555"/>
          </a:xfrm>
          <a:custGeom>
            <a:rect b="b" l="l" r="r" t="t"/>
            <a:pathLst>
              <a:path extrusionOk="0" h="663555" w="2394785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/>
          <p:nvPr/>
        </p:nvSpPr>
        <p:spPr>
          <a:xfrm>
            <a:off x="273353" y="196765"/>
            <a:ext cx="2690915" cy="806153"/>
          </a:xfrm>
          <a:custGeom>
            <a:rect b="b" l="l" r="r" t="t"/>
            <a:pathLst>
              <a:path extrusionOk="0" h="806153" w="2690915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6"/>
          <p:cNvSpPr/>
          <p:nvPr/>
        </p:nvSpPr>
        <p:spPr>
          <a:xfrm>
            <a:off x="10893623" y="280342"/>
            <a:ext cx="4147219" cy="663555"/>
          </a:xfrm>
          <a:custGeom>
            <a:rect b="b" l="l" r="r" t="t"/>
            <a:pathLst>
              <a:path extrusionOk="0" h="663555" w="4147219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6" name="Google Shape;156;p6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57" name="Google Shape;157;p6"/>
            <p:cNvSpPr/>
            <p:nvPr/>
          </p:nvSpPr>
          <p:spPr>
            <a:xfrm>
              <a:off x="0" y="2996179"/>
              <a:ext cx="12487528" cy="3412922"/>
            </a:xfrm>
            <a:custGeom>
              <a:rect b="b" l="l" r="r" t="t"/>
              <a:pathLst>
                <a:path extrusionOk="0" h="3412922" w="12487528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b="-155363" l="-4232" r="-3652" t="-139379"/>
              </a:stretch>
            </a:blipFill>
            <a:ln>
              <a:noFill/>
            </a:ln>
          </p:spPr>
        </p:sp>
        <p:sp>
          <p:nvSpPr>
            <p:cNvPr id="158" name="Google Shape;158;p6"/>
            <p:cNvSpPr/>
            <p:nvPr/>
          </p:nvSpPr>
          <p:spPr>
            <a:xfrm>
              <a:off x="458413" y="0"/>
              <a:ext cx="11570701" cy="1851312"/>
            </a:xfrm>
            <a:custGeom>
              <a:rect b="b" l="l" r="r" t="t"/>
              <a:pathLst>
                <a:path extrusionOk="0" h="1851312" w="11570701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9" name="Google Shape;159;p6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6"/>
          <p:cNvSpPr txBox="1"/>
          <p:nvPr/>
        </p:nvSpPr>
        <p:spPr>
          <a:xfrm>
            <a:off x="413225" y="1231947"/>
            <a:ext cx="1623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Impact &amp; Benefits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Impact on users (traders, investors, etc.)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Benefits:</a:t>
            </a:r>
            <a:endParaRPr/>
          </a:p>
          <a:p>
            <a:pPr indent="-431798" lvl="2" marL="1295394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Speed</a:t>
            </a:r>
            <a:endParaRPr/>
          </a:p>
          <a:p>
            <a:pPr indent="-431798" lvl="2" marL="1295394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Accuracy</a:t>
            </a:r>
            <a:endParaRPr/>
          </a:p>
          <a:p>
            <a:pPr indent="-431798" lvl="2" marL="1295394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Cost reduction</a:t>
            </a:r>
            <a:endParaRPr/>
          </a:p>
          <a:p>
            <a:pPr indent="-431798" lvl="2" marL="1295394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⚬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Real-world application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4701" l="0" r="0" t="-74701"/>
            </a:stretch>
          </a:blipFill>
          <a:ln>
            <a:noFill/>
          </a:ln>
        </p:spPr>
      </p:sp>
      <p:sp>
        <p:nvSpPr>
          <p:cNvPr id="166" name="Google Shape;166;p7"/>
          <p:cNvSpPr/>
          <p:nvPr/>
        </p:nvSpPr>
        <p:spPr>
          <a:xfrm>
            <a:off x="15368717" y="280342"/>
            <a:ext cx="2394785" cy="663555"/>
          </a:xfrm>
          <a:custGeom>
            <a:rect b="b" l="l" r="r" t="t"/>
            <a:pathLst>
              <a:path extrusionOk="0" h="663555" w="2394785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7"/>
          <p:cNvSpPr/>
          <p:nvPr/>
        </p:nvSpPr>
        <p:spPr>
          <a:xfrm>
            <a:off x="273353" y="196765"/>
            <a:ext cx="2690915" cy="806153"/>
          </a:xfrm>
          <a:custGeom>
            <a:rect b="b" l="l" r="r" t="t"/>
            <a:pathLst>
              <a:path extrusionOk="0" h="806153" w="2690915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7"/>
          <p:cNvSpPr/>
          <p:nvPr/>
        </p:nvSpPr>
        <p:spPr>
          <a:xfrm>
            <a:off x="10893623" y="280342"/>
            <a:ext cx="4147219" cy="663555"/>
          </a:xfrm>
          <a:custGeom>
            <a:rect b="b" l="l" r="r" t="t"/>
            <a:pathLst>
              <a:path extrusionOk="0" h="663555" w="4147219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9" name="Google Shape;169;p7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70" name="Google Shape;170;p7"/>
            <p:cNvSpPr/>
            <p:nvPr/>
          </p:nvSpPr>
          <p:spPr>
            <a:xfrm>
              <a:off x="0" y="2996179"/>
              <a:ext cx="12487528" cy="3412922"/>
            </a:xfrm>
            <a:custGeom>
              <a:rect b="b" l="l" r="r" t="t"/>
              <a:pathLst>
                <a:path extrusionOk="0" h="3412922" w="12487528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b="-155363" l="-4232" r="-3652" t="-139379"/>
              </a:stretch>
            </a:blipFill>
            <a:ln>
              <a:noFill/>
            </a:ln>
          </p:spPr>
        </p:sp>
        <p:sp>
          <p:nvSpPr>
            <p:cNvPr id="171" name="Google Shape;171;p7"/>
            <p:cNvSpPr/>
            <p:nvPr/>
          </p:nvSpPr>
          <p:spPr>
            <a:xfrm>
              <a:off x="458413" y="0"/>
              <a:ext cx="11570701" cy="1851312"/>
            </a:xfrm>
            <a:custGeom>
              <a:rect b="b" l="l" r="r" t="t"/>
              <a:pathLst>
                <a:path extrusionOk="0" h="1851312" w="11570701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2" name="Google Shape;172;p7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7"/>
          <p:cNvSpPr txBox="1"/>
          <p:nvPr/>
        </p:nvSpPr>
        <p:spPr>
          <a:xfrm>
            <a:off x="413225" y="1231947"/>
            <a:ext cx="16230600" cy="3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Challenges + Feasibility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Challenge 1 → </a:t>
            </a:r>
            <a:r>
              <a:rPr lang="en-US" sz="2999">
                <a:latin typeface="Times"/>
                <a:ea typeface="Times"/>
                <a:cs typeface="Times"/>
                <a:sym typeface="Times"/>
              </a:rPr>
              <a:t>S</a:t>
            </a: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olution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Challenge 2 → </a:t>
            </a:r>
            <a:r>
              <a:rPr lang="en-US" sz="2999">
                <a:latin typeface="Times"/>
                <a:ea typeface="Times"/>
                <a:cs typeface="Times"/>
                <a:sym typeface="Times"/>
              </a:rPr>
              <a:t>F</a:t>
            </a: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ix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Technical </a:t>
            </a:r>
            <a:r>
              <a:rPr lang="en-US" sz="2999">
                <a:latin typeface="Times"/>
                <a:ea typeface="Times"/>
                <a:cs typeface="Times"/>
                <a:sym typeface="Times"/>
              </a:rPr>
              <a:t>F</a:t>
            </a: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easibility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Scalability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4701" l="0" r="0" t="-74701"/>
            </a:stretch>
          </a:blipFill>
          <a:ln>
            <a:noFill/>
          </a:ln>
        </p:spPr>
      </p:sp>
      <p:sp>
        <p:nvSpPr>
          <p:cNvPr id="179" name="Google Shape;179;p8"/>
          <p:cNvSpPr/>
          <p:nvPr/>
        </p:nvSpPr>
        <p:spPr>
          <a:xfrm>
            <a:off x="15368717" y="280342"/>
            <a:ext cx="2394785" cy="663555"/>
          </a:xfrm>
          <a:custGeom>
            <a:rect b="b" l="l" r="r" t="t"/>
            <a:pathLst>
              <a:path extrusionOk="0" h="663555" w="2394785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8"/>
          <p:cNvSpPr/>
          <p:nvPr/>
        </p:nvSpPr>
        <p:spPr>
          <a:xfrm>
            <a:off x="273353" y="196765"/>
            <a:ext cx="2690915" cy="806153"/>
          </a:xfrm>
          <a:custGeom>
            <a:rect b="b" l="l" r="r" t="t"/>
            <a:pathLst>
              <a:path extrusionOk="0" h="806153" w="2690915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8"/>
          <p:cNvSpPr/>
          <p:nvPr/>
        </p:nvSpPr>
        <p:spPr>
          <a:xfrm>
            <a:off x="10893623" y="280342"/>
            <a:ext cx="4147219" cy="663555"/>
          </a:xfrm>
          <a:custGeom>
            <a:rect b="b" l="l" r="r" t="t"/>
            <a:pathLst>
              <a:path extrusionOk="0" h="663555" w="4147219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2" name="Google Shape;182;p8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83" name="Google Shape;183;p8"/>
            <p:cNvSpPr/>
            <p:nvPr/>
          </p:nvSpPr>
          <p:spPr>
            <a:xfrm>
              <a:off x="0" y="2996179"/>
              <a:ext cx="12487528" cy="3412922"/>
            </a:xfrm>
            <a:custGeom>
              <a:rect b="b" l="l" r="r" t="t"/>
              <a:pathLst>
                <a:path extrusionOk="0" h="3412922" w="12487528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b="-155363" l="-4232" r="-3652" t="-139379"/>
              </a:stretch>
            </a:blipFill>
            <a:ln>
              <a:noFill/>
            </a:ln>
          </p:spPr>
        </p:sp>
        <p:sp>
          <p:nvSpPr>
            <p:cNvPr id="184" name="Google Shape;184;p8"/>
            <p:cNvSpPr/>
            <p:nvPr/>
          </p:nvSpPr>
          <p:spPr>
            <a:xfrm>
              <a:off x="458413" y="0"/>
              <a:ext cx="11570701" cy="1851312"/>
            </a:xfrm>
            <a:custGeom>
              <a:rect b="b" l="l" r="r" t="t"/>
              <a:pathLst>
                <a:path extrusionOk="0" h="1851312" w="11570701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5" name="Google Shape;185;p8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8"/>
          <p:cNvSpPr txBox="1"/>
          <p:nvPr/>
        </p:nvSpPr>
        <p:spPr>
          <a:xfrm>
            <a:off x="413225" y="1231946"/>
            <a:ext cx="16230600" cy="3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Future Scope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Future improvements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Scaling plan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Integration with real systems (e.g., trading APIs)</a:t>
            </a:r>
            <a:endParaRPr/>
          </a:p>
          <a:p>
            <a:pPr indent="-323848" lvl="1" marL="647697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Business potential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