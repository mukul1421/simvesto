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FINVASIA INNOVATION HACKATHON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SimVesto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3749040" y="77724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83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Without Fear.  Learn Without Risk.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50292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investment simulation platform for first-time investors — virtualised trading, Monte Carlo risk analysis, and behavioural intelligence. No real money. Real learning.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924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74520" y="33832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3924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Scoring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33832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3924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Coins Economy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338328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3924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5120640" cy="82296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931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SimVesto Team   </a:t>
            </a:r>
            <a:pPr indent="0" marL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Problem: </a:t>
            </a:r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Fear Among Young Indians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731520"/>
            <a:ext cx="2468880" cy="38404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731520"/>
            <a:ext cx="246888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914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1234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Simulated Stocks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0" y="1508760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6093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19293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Paths / Trade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92240" y="2203704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3042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92240" y="2624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92240" y="2898648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9992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92240" y="3319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Score Range (0–100)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359359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694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92240" y="40142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Tier — No Cost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github.com/mukul1421/SimVesto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Young Indians Don't Invest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0" y="320040"/>
            <a:ext cx="2331720" cy="137160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320040"/>
            <a:ext cx="233172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457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629400" y="1078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millennials avoid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due to fear of loss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4114800" cy="15544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41148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Financial Loss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investors catastrophise downside risk, treating every investment as a potential total loss — even in diversified instruments.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14800" cy="15544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4114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Safe Experimentation Space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offers a consequence-free sandbox with realistic market dynamics. Paper trading tools exist but lack behavioural intelligence or AI guidance.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411480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Overload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jargon — P/E ratios, volatility bands, drawdown — creates a steep, uninviting learning curve that drives beginners away before they begin.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114800" cy="15544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34640"/>
            <a:ext cx="41148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Advice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financial content ignores individual risk tolerance. A high-fear user and a confident trader receive identical information — ineffective for both.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Indians actively invest in equities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₹74 Lakh Cr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91840" y="48280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household savings potential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17920" y="48280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bracket with highest investment anxiety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SimVesto — Simulate Before You Invest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SimVesto is a full-stack trading simulation platform that replicates the real Zerodha/Groww experience — live price movement, buy/sell mechanics, portfolio tracking — entirely using virtual IQ Coins. Every trade is evaluated in real time by a Monte Carlo AI engine running 1,000 stochastic scenarios, while a behavioural intelligence layer silently tracks and reduces investment fear over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06040" cy="237744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260604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29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359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market mechanics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Indian stocks with Geometric Brownian Motion pricing. Tick every 1.5 seconds. Full buy/sell with portfolio P&amp;L — identical to a live trading app.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606040" cy="237744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20240"/>
            <a:ext cx="26060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029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2359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risk intelligence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0128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Monte Carlo paths per trade. Confidence bands P5–P95. Clear GOOD / AVERAGE / RISKY verdict with exact loss probability percentage.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606040" cy="237744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920240"/>
            <a:ext cx="2606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029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44768" y="23591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intelligence loop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44768" y="26060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score (0–100) computed automatically from hesitation time, scroll patterns, trade reversals, and session frequency. Drops as confidence builds.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434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SimVesto outperforms alternatives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663440"/>
          <a:ext cx="8412480" cy="41148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1920240"/>
              </a:tblGrid>
              <a:tr h="82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Groww / Zerodha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Paper Trading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SimVesto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82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money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deters beginners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IQ Coins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82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trade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Carlo, 1,000 paths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82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/ behaviour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Automatic, session-level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  <a:tr h="82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narration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Data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943600" cy="658368"/>
          </a:xfrm>
          <a:prstGeom prst="rect">
            <a:avLst/>
          </a:prstGeom>
          <a:solidFill>
            <a:srgbClr val="141C30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8 · Zustand state · Framer Motion · React Router v7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943600" cy="658368"/>
          </a:xfrm>
          <a:prstGeom prst="rect">
            <a:avLst/>
          </a:prstGeom>
          <a:solidFill>
            <a:srgbClr val="141C30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91640"/>
            <a:ext cx="64008" cy="6583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3736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stockEngine.js (GBM) · monteCarlo.js (1,000 paths) · fearEngine.js (behaviour) · aiNarrator.js (Gemini)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5943600" cy="658368"/>
          </a:xfrm>
          <a:prstGeom prst="rect">
            <a:avLst/>
          </a:prstGeom>
          <a:solidFill>
            <a:srgbClr val="141C3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23160"/>
            <a:ext cx="6400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6888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STATE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global store · localStorage persistence · Supabase-ready schema · Event log pipeline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5943600" cy="658368"/>
          </a:xfrm>
          <a:prstGeom prst="rect">
            <a:avLst/>
          </a:prstGeom>
          <a:solidFill>
            <a:srgbClr val="141C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54680"/>
            <a:ext cx="64008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(free tier) · yfinance-style parameters · Chart.js / Recharts · Three.js 3D hero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618488"/>
            <a:ext cx="0" cy="73152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350008"/>
            <a:ext cx="0" cy="73152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081528"/>
            <a:ext cx="0" cy="73152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31920"/>
            <a:ext cx="5943600" cy="822960"/>
          </a:xfrm>
          <a:prstGeom prst="rect">
            <a:avLst/>
          </a:prstGeom>
          <a:solidFill>
            <a:srgbClr val="1A244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0050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17880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→ Behaviour event logged → fearEngine computes delta → Zustand updates global state → stockEngine ticks every 1.5s → Trade triggers monteCarlo (1,000 paths, ~20ms) → Gemini narrates → UI renders streamed response → localStorage persists session.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960120"/>
            <a:ext cx="2423160" cy="379476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960120"/>
            <a:ext cx="242316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024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0" y="13258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0" y="1325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158191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6916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16916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0" y="194767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0574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0" y="20574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231343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4231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/ Anim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0" y="242316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+ Framer Motion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583680" y="267919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2788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0" y="278892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83680" y="304495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154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0" y="31546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83680" y="341071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520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98080" y="35204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CSS (dark theme)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83680" y="377647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3886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(ready)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0" y="38862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localStorage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83680" y="4142232"/>
            <a:ext cx="21945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42519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98080" y="425196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+ Monte Carlo (JS)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Capabilities That Differentiate SimVesto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078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Trading Simulation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3776" y="138988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Indian stocks, GBM-driven prices ticking every 1.5 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buy/sell order execution with live portfolio P&amp;L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live ticker strip — identical UX to Groww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148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97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38928" y="1078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AI Advisor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91456" y="1389888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stochastic paths simulated per trade in ~20 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P5/P25/P50/P75/P95 confidence bands visualised on chart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AVERAGE / RISKY verdict + exact loss probability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411480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59152"/>
            <a:ext cx="4114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24323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Intelligence Engine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" y="27432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tracking — hover delay, scroll depth, trade reversals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score (0–100) recomputed after every significant action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persists across sessions; trend drives personalisation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359152"/>
            <a:ext cx="411480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59152"/>
            <a:ext cx="41148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38928" y="24323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Portfolio Narrator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27432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adapts: reassuring for high-fear, analytical for confident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Character-by-character streaming for a live AI feel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 templates — works without an API key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411480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12464"/>
            <a:ext cx="411480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039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Coins Virtual Economy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" y="409651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10,000 IQ Coins — no real money, full market realism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bonuses: first trade, diversification, fear reduction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Loss/gain mechanic internalises risk without financial exposure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712464"/>
            <a:ext cx="411480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12464"/>
            <a:ext cx="41148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8039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38928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Tooltips (Pending Release)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91456" y="409651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any chart, term, or metric for an instant definition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glossary embedded throughout every screen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cognitive barrier for users with zero finance background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Across Three Dimensions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65960" cy="8686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96596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Confident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score journey per user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914400"/>
            <a:ext cx="1965960" cy="8686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914400"/>
            <a:ext cx="196596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024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1463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analysis 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914400"/>
            <a:ext cx="1965960" cy="8686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914400"/>
            <a:ext cx="19659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024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18304" y="1463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Coins — free starting capital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94576" y="914400"/>
            <a:ext cx="1965960" cy="8686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94576" y="914400"/>
            <a:ext cx="196596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024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94576" y="14630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Gemini API key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920240"/>
            <a:ext cx="4389120" cy="256032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1920240"/>
            <a:ext cx="43891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011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Fear Score Reduction by Session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423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63040" y="2468880"/>
            <a:ext cx="3200400" cy="1828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2468880"/>
            <a:ext cx="2720340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4231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28072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463040" y="2852928"/>
            <a:ext cx="3200400" cy="1828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2852928"/>
            <a:ext cx="2176272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8072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31912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463040" y="3236976"/>
            <a:ext cx="3200400" cy="1828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63040" y="3236976"/>
            <a:ext cx="14401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1912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35753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63040" y="3621024"/>
            <a:ext cx="3200400" cy="1828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3621024"/>
            <a:ext cx="896112" cy="1828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5753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3959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463040" y="4005072"/>
            <a:ext cx="3200400" cy="182880"/>
          </a:xfrm>
          <a:prstGeom prst="rect">
            <a:avLst/>
          </a:prstGeom>
          <a:solidFill>
            <a:srgbClr val="1E2A45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4005072"/>
            <a:ext cx="448056" cy="1828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9593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463040" y="44805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Score →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83480" y="1920240"/>
            <a:ext cx="3840480" cy="123444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83480" y="1920240"/>
            <a:ext cx="384048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93208" y="20299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93208" y="230428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environment to build real investing intuition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AI feedback calibrated to fear level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Coins create emotional investment without financial risk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card — a tangible proof of progress to share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83480" y="3291840"/>
            <a:ext cx="3840480" cy="123444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983480" y="3291840"/>
            <a:ext cx="384048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93208" y="3401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Market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93208" y="367588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barrier to entry for India's 1.4B population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financial literacy gap in Tier 2/3 cities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drives sustained engagement and habit formation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Supabase-ready for B2B white-label deployment to fintechs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83480" y="4617720"/>
            <a:ext cx="3840480" cy="384048"/>
          </a:xfrm>
          <a:prstGeom prst="rect">
            <a:avLst/>
          </a:prstGeom>
          <a:solidFill>
            <a:srgbClr val="1A244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12064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application: SimVesto's architecture is Supabase-ready and can integrate with broker APIs (Zerodha Kite, Upstox) to transition users from simulation to live trading with a single account link.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FEASIBILITY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 &amp; Why SimVesto Is Viable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161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stock price simulation without paid data APIs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051560"/>
            <a:ext cx="0" cy="6858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0058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0" y="116128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Brownian Motion (GBM) with per-stock calibrated drift (μ) and volatility (σ) parameters. Mathematically identical to Black-Scholes. No external API required.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47672"/>
            <a:ext cx="8412480" cy="8686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47672"/>
            <a:ext cx="54864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93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performance at 1,000 paths in-browser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2039112"/>
            <a:ext cx="0" cy="6858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9933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89120" y="214884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JS computation using typed arrays. All 1,000 paths complete in ~20 ms on mid-range hardware — imperceptible to the user. No server round-trip needed.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935224"/>
            <a:ext cx="8412480" cy="8686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35224"/>
            <a:ext cx="54864" cy="868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809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136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tracking without disrupting UX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3026664"/>
            <a:ext cx="0" cy="6858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298094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89120" y="31363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event listeners on hover, scroll, and click — zero UI components added. FearEngine accumulates signals silently and batches updates to Zustand every 5 seconds.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922776"/>
            <a:ext cx="8412480" cy="8686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922776"/>
            <a:ext cx="54864" cy="8686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684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41239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narration quality without heavy infrastructure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4014216"/>
            <a:ext cx="0" cy="6858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39684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89120" y="412394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free tier (15 req/min) is sufficient for demo and early users. Smart offline fallback templates activate when API is unavailable — zero degradation visible to user.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1A244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8554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Feasibility:  </a:t>
            </a:r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front-end, zero backend infra required.  </a:t>
            </a:r>
            <a:pPr indent="0" marL="0">
              <a:buNone/>
            </a:pPr>
            <a:r>
              <a:rPr lang="en-US" sz="95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 </a:t>
            </a:r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edge functions enable 100k+ concurrent users without re-architecture.  </a:t>
            </a:r>
            <a:pPr indent="0" marL="0">
              <a:buNone/>
            </a:pPr>
            <a:r>
              <a:rPr lang="en-US" sz="95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developers, React + JS proficiency sufficient.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Simulation to Full Investment Ecosystem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30352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3035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241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2344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(0–3 months)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417320"/>
            <a:ext cx="4937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 — persistent leaderboards, cross-device sessions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NIFTY 50 price data via NSE API integration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tournaments — compete on IQ Coin returns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tooltip glossary system (in active development)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65760" y="2276856"/>
            <a:ext cx="530352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76856"/>
            <a:ext cx="530352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340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" y="255117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(3–9 months)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2734056"/>
            <a:ext cx="4937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API bridge — Zerodha Kite / Upstox for live trading graduation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Fear Score model (scikit-learn) replacing heuristic weights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and SIP simulation module with XIRR calculator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weekly portfolio review reports via Gemini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65760" y="3593592"/>
            <a:ext cx="5303520" cy="1207008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93592"/>
            <a:ext cx="53035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" y="38679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(9–18 months)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" y="4050792"/>
            <a:ext cx="4937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&amp; derivatives simulation — Nifty/BankNifty paper trading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white-label licensing to banks and SEBI-registered advisors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support — Hindi, Tamil, Telugu for Tier 2/3 reach</a:t>
            </a:r>
            <a:endParaRPr lang="en-US" sz="8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8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KYC integration — seamless live brokerage account transition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897880" y="960120"/>
            <a:ext cx="2926080" cy="3840480"/>
          </a:xfrm>
          <a:prstGeom prst="rect">
            <a:avLst/>
          </a:prstGeom>
          <a:solidFill>
            <a:srgbClr val="141C30"/>
          </a:solidFill>
          <a:ln w="12700">
            <a:solidFill>
              <a:srgbClr val="1E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97880" y="960120"/>
            <a:ext cx="2926080" cy="457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042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Potential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316736"/>
            <a:ext cx="26517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36245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 Lakh Cr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retail broking market by 2030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2011680"/>
            <a:ext cx="26517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0574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Billion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2295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 across India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35040" y="2706624"/>
            <a:ext cx="26517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75234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35040" y="2990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→ Pro coaching subscriptions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3401568"/>
            <a:ext cx="26517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4472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35040" y="3685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banks and wealth managers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4096512"/>
            <a:ext cx="265176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4142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SEBI-aligned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35040" y="4379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money = no regulatory friction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SimVesto — Finvasia Innovation Hackathon 2026</dc:title>
  <dc:subject>PptxGenJS Presentation</dc:subject>
  <dc:creator>PptxGenJS</dc:creator>
  <cp:lastModifiedBy>PptxGenJS</cp:lastModifiedBy>
  <cp:revision>1</cp:revision>
  <dcterms:created xsi:type="dcterms:W3CDTF">2026-04-13T11:58:14Z</dcterms:created>
  <dcterms:modified xsi:type="dcterms:W3CDTF">2026-04-13T11:58:14Z</dcterms:modified>
</cp:coreProperties>
</file>